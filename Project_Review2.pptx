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905" r:id="rId5"/>
    <p:sldId id="906" r:id="rId6"/>
    <p:sldId id="257" r:id="rId7"/>
    <p:sldId id="903" r:id="rId8"/>
    <p:sldId id="902" r:id="rId9"/>
    <p:sldId id="258" r:id="rId10"/>
    <p:sldId id="259" r:id="rId11"/>
    <p:sldId id="260" r:id="rId12"/>
    <p:sldId id="9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BE97E5-ACD6-4170-82C4-1EF17BB68366}" v="3" dt="2026-09-11T03:38:58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dhasini@gmail.com" userId="f7d8d9d182633e2c" providerId="LiveId" clId="{8FBE97E5-ACD6-4170-82C4-1EF17BB68366}"/>
    <pc:docChg chg="undo custSel addSld modSld">
      <pc:chgData name="gldhasini@gmail.com" userId="f7d8d9d182633e2c" providerId="LiveId" clId="{8FBE97E5-ACD6-4170-82C4-1EF17BB68366}" dt="2026-09-11T03:44:26.589" v="305" actId="20577"/>
      <pc:docMkLst>
        <pc:docMk/>
      </pc:docMkLst>
      <pc:sldChg chg="modSp mod">
        <pc:chgData name="gldhasini@gmail.com" userId="f7d8d9d182633e2c" providerId="LiveId" clId="{8FBE97E5-ACD6-4170-82C4-1EF17BB68366}" dt="2026-09-11T03:44:26.589" v="305" actId="20577"/>
        <pc:sldMkLst>
          <pc:docMk/>
          <pc:sldMk cId="2747969496" sldId="707"/>
        </pc:sldMkLst>
        <pc:spChg chg="mod">
          <ac:chgData name="gldhasini@gmail.com" userId="f7d8d9d182633e2c" providerId="LiveId" clId="{8FBE97E5-ACD6-4170-82C4-1EF17BB68366}" dt="2026-09-11T03:40:41.251" v="109" actId="20577"/>
          <ac:spMkLst>
            <pc:docMk/>
            <pc:sldMk cId="2747969496" sldId="707"/>
            <ac:spMk id="14" creationId="{576F380C-3238-E430-3C22-3C23884CE532}"/>
          </ac:spMkLst>
        </pc:spChg>
        <pc:spChg chg="mod">
          <ac:chgData name="gldhasini@gmail.com" userId="f7d8d9d182633e2c" providerId="LiveId" clId="{8FBE97E5-ACD6-4170-82C4-1EF17BB68366}" dt="2026-09-11T03:42:33.173" v="170" actId="20577"/>
          <ac:spMkLst>
            <pc:docMk/>
            <pc:sldMk cId="2747969496" sldId="707"/>
            <ac:spMk id="18" creationId="{EE7E17B2-5AF8-C463-91C3-5B87FC773369}"/>
          </ac:spMkLst>
        </pc:spChg>
        <pc:spChg chg="mod">
          <ac:chgData name="gldhasini@gmail.com" userId="f7d8d9d182633e2c" providerId="LiveId" clId="{8FBE97E5-ACD6-4170-82C4-1EF17BB68366}" dt="2026-09-11T03:43:12.887" v="222" actId="20577"/>
          <ac:spMkLst>
            <pc:docMk/>
            <pc:sldMk cId="2747969496" sldId="707"/>
            <ac:spMk id="20" creationId="{6D160BA9-A291-1BA5-C03E-7218C2169C28}"/>
          </ac:spMkLst>
        </pc:spChg>
        <pc:spChg chg="mod">
          <ac:chgData name="gldhasini@gmail.com" userId="f7d8d9d182633e2c" providerId="LiveId" clId="{8FBE97E5-ACD6-4170-82C4-1EF17BB68366}" dt="2026-09-11T03:44:07.950" v="261" actId="20577"/>
          <ac:spMkLst>
            <pc:docMk/>
            <pc:sldMk cId="2747969496" sldId="707"/>
            <ac:spMk id="22" creationId="{6C792DA3-F484-948A-E346-F158FE24CE3F}"/>
          </ac:spMkLst>
        </pc:spChg>
        <pc:spChg chg="mod">
          <ac:chgData name="gldhasini@gmail.com" userId="f7d8d9d182633e2c" providerId="LiveId" clId="{8FBE97E5-ACD6-4170-82C4-1EF17BB68366}" dt="2026-09-11T03:44:26.589" v="305" actId="20577"/>
          <ac:spMkLst>
            <pc:docMk/>
            <pc:sldMk cId="2747969496" sldId="707"/>
            <ac:spMk id="24" creationId="{957E2443-43F4-3FA3-6C83-796D6B456220}"/>
          </ac:spMkLst>
        </pc:spChg>
        <pc:spChg chg="mod">
          <ac:chgData name="gldhasini@gmail.com" userId="f7d8d9d182633e2c" providerId="LiveId" clId="{8FBE97E5-ACD6-4170-82C4-1EF17BB68366}" dt="2026-09-11T03:40:14.064" v="44" actId="20577"/>
          <ac:spMkLst>
            <pc:docMk/>
            <pc:sldMk cId="2747969496" sldId="707"/>
            <ac:spMk id="28" creationId="{F1211E34-5F1E-9B5C-4C59-2549F412DCD1}"/>
          </ac:spMkLst>
        </pc:spChg>
        <pc:spChg chg="mod">
          <ac:chgData name="gldhasini@gmail.com" userId="f7d8d9d182633e2c" providerId="LiveId" clId="{8FBE97E5-ACD6-4170-82C4-1EF17BB68366}" dt="2026-09-11T03:41:01.769" v="115" actId="20577"/>
          <ac:spMkLst>
            <pc:docMk/>
            <pc:sldMk cId="2747969496" sldId="707"/>
            <ac:spMk id="31" creationId="{4D713724-2EA7-CA04-47B9-F63B3DAC496D}"/>
          </ac:spMkLst>
        </pc:spChg>
      </pc:sldChg>
      <pc:sldChg chg="new">
        <pc:chgData name="gldhasini@gmail.com" userId="f7d8d9d182633e2c" providerId="LiveId" clId="{8FBE97E5-ACD6-4170-82C4-1EF17BB68366}" dt="2026-09-11T03:38:34.149" v="1" actId="680"/>
        <pc:sldMkLst>
          <pc:docMk/>
          <pc:sldMk cId="2930377516" sldId="905"/>
        </pc:sldMkLst>
      </pc:sldChg>
      <pc:sldChg chg="addSp delSp modSp new mod">
        <pc:chgData name="gldhasini@gmail.com" userId="f7d8d9d182633e2c" providerId="LiveId" clId="{8FBE97E5-ACD6-4170-82C4-1EF17BB68366}" dt="2026-09-11T03:39:55.397" v="27" actId="122"/>
        <pc:sldMkLst>
          <pc:docMk/>
          <pc:sldMk cId="3039770981" sldId="906"/>
        </pc:sldMkLst>
        <pc:spChg chg="mod">
          <ac:chgData name="gldhasini@gmail.com" userId="f7d8d9d182633e2c" providerId="LiveId" clId="{8FBE97E5-ACD6-4170-82C4-1EF17BB68366}" dt="2026-09-11T03:39:55.397" v="27" actId="122"/>
          <ac:spMkLst>
            <pc:docMk/>
            <pc:sldMk cId="3039770981" sldId="906"/>
            <ac:spMk id="2" creationId="{91EFFD57-EF42-4297-AF9B-690079F2427D}"/>
          </ac:spMkLst>
        </pc:spChg>
        <pc:spChg chg="del">
          <ac:chgData name="gldhasini@gmail.com" userId="f7d8d9d182633e2c" providerId="LiveId" clId="{8FBE97E5-ACD6-4170-82C4-1EF17BB68366}" dt="2026-09-11T03:38:47.604" v="3"/>
          <ac:spMkLst>
            <pc:docMk/>
            <pc:sldMk cId="3039770981" sldId="906"/>
            <ac:spMk id="3" creationId="{131EA4F8-D7A7-97FA-265F-49F5E4A69CBA}"/>
          </ac:spMkLst>
        </pc:spChg>
        <pc:spChg chg="add mod">
          <ac:chgData name="gldhasini@gmail.com" userId="f7d8d9d182633e2c" providerId="LiveId" clId="{8FBE97E5-ACD6-4170-82C4-1EF17BB68366}" dt="2026-09-11T03:39:38.045" v="11" actId="20577"/>
          <ac:spMkLst>
            <pc:docMk/>
            <pc:sldMk cId="3039770981" sldId="906"/>
            <ac:spMk id="7" creationId="{21E0D2E5-2080-082A-B215-65A01788583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11-09-2026 &amp; 8:15-9:50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011977"/>
              </p:ext>
            </p:extLst>
          </p:nvPr>
        </p:nvGraphicFramePr>
        <p:xfrm>
          <a:off x="8193271" y="4898509"/>
          <a:ext cx="370205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Moukshitha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2420030164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Hasini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2420030421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057390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dirty="0"/>
                        <a:t>DR. N.SUNANDA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11-09-2026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838200" y="1412324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1038225" y="1643534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800" b="1" u="sng" dirty="0"/>
              <a:t>Finsight-Loan/Credit Risk Analyzer4</a:t>
            </a:r>
            <a:endParaRPr lang="en-IN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40595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11-09-2026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87828"/>
            <a:ext cx="6784432" cy="4429145"/>
            <a:chOff x="1929643" y="1666487"/>
            <a:chExt cx="6784432" cy="442914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Gap Identification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 err="1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Innovation,Novelty,Creativity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 err="1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Feasibility,Project</a:t>
              </a:r>
              <a:r>
                <a:rPr lang="en-US" b="1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 Plan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66487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4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C42E3-B13F-584F-3233-90A926279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343691-A5A0-3D1F-1BF0-EDA02B7B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316B4-A5D4-E46A-F640-45BF4550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377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FD57-EF42-4297-AF9B-690079F2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C0BC-7550-FE1C-E9F7-09450D74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0C115-144E-51C5-C4AC-E5DE9BF4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0EB7E-A749-D389-A67E-02D9FECB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4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1E0D2E5-2080-082A-B215-65A017885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1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risk assessment is a critical challenge for financial institutions in ensuring loan repayment and minimizing defaults.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credit scoring systems rely heavily on static rules and limited financial ratios, often leading to inaccurate borrower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loan defaults highlight the need for advanced, data-driven approaches to predict borrower behavior more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Finsight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aims to bridge the gap between conventional scoring and modern predictive analytics by offering a scalable, transparent, and explainable risk analyzer.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emphasizes both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reduction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inclusion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deserving borrowers gain access to credit while minimizing institutional losses.</a:t>
            </a:r>
          </a:p>
        </p:txBody>
      </p:sp>
    </p:spTree>
    <p:extLst>
      <p:ext uri="{BB962C8B-B14F-4D97-AF65-F5344CB8AC3E}">
        <p14:creationId xmlns:p14="http://schemas.microsoft.com/office/powerpoint/2010/main" val="3039770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D4E478-789B-3368-1DD2-8FAB9A7D03AC}"/>
              </a:ext>
            </a:extLst>
          </p:cNvPr>
          <p:cNvSpPr txBox="1"/>
          <p:nvPr/>
        </p:nvSpPr>
        <p:spPr>
          <a:xfrm>
            <a:off x="707923" y="1499529"/>
            <a:ext cx="1069749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institutions struggle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accurately assess borrower risk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over-reliance on traditional credit scoring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often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ignore behavioral and transactional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leading to incomplete borrower profiles.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creditworthy individuals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unfairly denied loans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high-risk borrowers sometimes get approved, causing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losses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risk assessment tools lack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adaptability and scalability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diverse lending environments (banks,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fintechs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microfinance).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limited focus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 and transparency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predictions, making it difficult for institutions to justify loan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models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static and outdated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failing to adapt to evolving borrower behavior and market conditions.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463F9E-C2C8-09CA-0E18-3FA1BE4D576B}"/>
              </a:ext>
            </a:extLst>
          </p:cNvPr>
          <p:cNvSpPr txBox="1"/>
          <p:nvPr/>
        </p:nvSpPr>
        <p:spPr>
          <a:xfrm>
            <a:off x="860323" y="1481560"/>
            <a:ext cx="1060409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framework to predict loan default risk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machine learning models (Logistic Regression, Decision Trees, Random Forest,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multi-dimensional borrower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including credit history, income stability, debt-to-income ratio, and transaction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feature engineering and selection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the most influential risk factors.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explainable AI techniques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SHAP values) to provide transparency in risk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a scalable decision-support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adaptable across banks,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fintechs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microfinance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financial inclusion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reducing false rejections of low-risk borrowers while minimizing defaults.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4565011"/>
              </p:ext>
            </p:extLst>
          </p:nvPr>
        </p:nvGraphicFramePr>
        <p:xfrm>
          <a:off x="274646" y="689466"/>
          <a:ext cx="11642705" cy="5108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Hilal et. al. [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Epileptic Seizure Detection and Classification Model Using Optimal Deep Canonical Sparse Autoencoder,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Biology, 2022-mdpi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Coyote optimization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(COA) for feature selection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Krill herd algorithm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(KHA) for parameter tuning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intelligent deep canonical sparse autoencoder-based epileptic seizure detection and classification model using EEG signals. 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achieves a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maximum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accuracy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98.67% 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98.73%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under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binary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IN" sz="1400" b="1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multi-classification,</a:t>
                      </a:r>
                      <a:r>
                        <a:rPr lang="en-IN" sz="14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respectively.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The paper does not mention the specific limitations of the proposed </a:t>
                      </a:r>
                      <a:r>
                        <a:rPr lang="en-IN" sz="1400" b="1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DCSAE-ESDC </a:t>
                      </a:r>
                      <a:r>
                        <a:rPr lang="en-IN" sz="14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technique or the experimental analysis conducted using the benchmark epileptic seizure dataset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Baek &amp; Kim [1]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Comparative Assessment of Credit Risk Model Based on Machine Learning – A Case Study of Bank Loan Data (2020)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Logistic Regression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Decision Tree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Random Forest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Naive Bayes &amp; KNN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5 ML classifiers for credit scoring.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performed best in precision, recall, AUC and accuracy.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model comparison. 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work can explore more advanced and explainable models.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Dumitrescu et al. [2]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i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for Credit Scoring: Improving Logistic Regression with Non-linear Decision-tree Effects (2022)</a:t>
                      </a:r>
                      <a:endParaRPr lang="en-IN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Decision-tree-based feature engineering 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Penalised Logistic Tree Regression</a:t>
                      </a:r>
                      <a:endParaRPr lang="en-US" sz="1400" b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interpretability of Logistic Regression with nonlinear patterns from decision trees. 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Improves credit-risk prediction.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complex than standard Logistic Regression. 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research can improve interpretability and practical deployment.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11-09-2026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DF083D-C058-EACF-058D-2D91C5A842BF}"/>
              </a:ext>
            </a:extLst>
          </p:cNvPr>
          <p:cNvSpPr txBox="1"/>
          <p:nvPr/>
        </p:nvSpPr>
        <p:spPr>
          <a:xfrm>
            <a:off x="1061885" y="1801108"/>
            <a:ext cx="94684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Traditional loan assessment methods often rely on limited borrower information and predefined rules.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They may fail to identify complex patterns in borrowers’ financial and repayment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This can lead to inaccurate risk assessment, increased loan defaults, and financial losses.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Existing approaches may focus mainly on prediction without providing clear risk categorization and actionable insights.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Therefore, an integrated data-driven and machine learning-based credit risk </a:t>
            </a:r>
            <a:r>
              <a:rPr lang="en-IN" sz="2000" dirty="0" err="1"/>
              <a:t>analyzer</a:t>
            </a:r>
            <a:r>
              <a:rPr lang="en-IN" sz="2000" dirty="0"/>
              <a:t> is needed to improve loan-risk assessment and support responsible lending decisions.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21C86-5DDA-74D0-8475-C62930D82729}"/>
              </a:ext>
            </a:extLst>
          </p:cNvPr>
          <p:cNvSpPr txBox="1"/>
          <p:nvPr/>
        </p:nvSpPr>
        <p:spPr>
          <a:xfrm>
            <a:off x="1061885" y="5103674"/>
            <a:ext cx="90850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Existing systems: Primarily depend on static credit scores and rigid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Gap: Lack of dynamic, data-driven models that incorporate behavioral and               	transactional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CD3A18-12ED-0472-08B2-5C0A38604D37}"/>
              </a:ext>
            </a:extLst>
          </p:cNvPr>
          <p:cNvSpPr txBox="1"/>
          <p:nvPr/>
        </p:nvSpPr>
        <p:spPr>
          <a:xfrm>
            <a:off x="1130710" y="1781033"/>
            <a:ext cx="99699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Data-Driven Risk Assessment:</a:t>
            </a:r>
            <a:r>
              <a:rPr lang="en-IN" dirty="0"/>
              <a:t> Uses borrower and loan data to identify hidden patterns in credit risk.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Multiple ML Models:</a:t>
            </a:r>
            <a:r>
              <a:rPr lang="en-IN" dirty="0"/>
              <a:t> Compares Logistic Regression, Decision Tree, and Ensemble Models to select an effective prediction approach.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Risk Categorization:</a:t>
            </a:r>
            <a:r>
              <a:rPr lang="en-IN" dirty="0"/>
              <a:t> Classifies applicants into different risk levels instead of providing only a loan default prediction.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Actionable Insights:</a:t>
            </a:r>
            <a:r>
              <a:rPr lang="en-IN" dirty="0"/>
              <a:t> Converts model predictions into meaningful information to support lending decisions.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Integrated Analytics:</a:t>
            </a:r>
            <a:r>
              <a:rPr lang="en-IN" dirty="0"/>
              <a:t> Combines data preprocessing, EDA, machine learning, and risk analysis in a single system.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 dirty="0"/>
              <a:t>Scalable Approach:</a:t>
            </a:r>
            <a:r>
              <a:rPr lang="en-IN" dirty="0"/>
              <a:t> Can be adapted to different lending environments and datasets.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52F10A-E732-5CF9-35F7-FE71CB843827}"/>
              </a:ext>
            </a:extLst>
          </p:cNvPr>
          <p:cNvSpPr txBox="1"/>
          <p:nvPr/>
        </p:nvSpPr>
        <p:spPr>
          <a:xfrm>
            <a:off x="973394" y="1505628"/>
            <a:ext cx="10373032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Feasibility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Technical:</a:t>
            </a:r>
            <a:r>
              <a:rPr lang="en-IN" sz="1600" dirty="0"/>
              <a:t> Uses Python, Pandas, Scikit-learn, and visualization tools that are widely available and easy to implement.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Data:</a:t>
            </a:r>
            <a:r>
              <a:rPr lang="en-IN" sz="1600" dirty="0"/>
              <a:t> Historical loan/credit datasets are available for training and evaluation.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Economic:</a:t>
            </a:r>
            <a:r>
              <a:rPr lang="en-IN" sz="1600" dirty="0"/>
              <a:t> Requires minimal cost as the project mainly uses open-source tools and datasets.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Operational:</a:t>
            </a:r>
            <a:r>
              <a:rPr lang="en-IN" sz="1600" dirty="0"/>
              <a:t> Simple and user-friendly system that can provide quick credit-risk insights.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Project Plan</a:t>
            </a:r>
            <a:endParaRPr lang="en-IN" dirty="0"/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Data Collection &amp; Preprocessing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EDA &amp; Feature Engineering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ML Model Development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Model Evaluation &amp; Comparison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Risk Prediction &amp; Dashboard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600" dirty="0"/>
              <a:t>Testing, Documentation &amp; Final Deployment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8F34-74CD-3B4D-5298-753AFF29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TIMELINE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7460F8-6701-C084-D753-8D48E3F57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413769"/>
              </p:ext>
            </p:extLst>
          </p:nvPr>
        </p:nvGraphicFramePr>
        <p:xfrm>
          <a:off x="838200" y="1825625"/>
          <a:ext cx="10515600" cy="287419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8362788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824083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44794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019750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7024442"/>
                    </a:ext>
                  </a:extLst>
                </a:gridCol>
              </a:tblGrid>
              <a:tr h="410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W1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W2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W3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W4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473531"/>
                  </a:ext>
                </a:extLst>
              </a:tr>
              <a:tr h="410599">
                <a:tc>
                  <a:txBody>
                    <a:bodyPr/>
                    <a:lstStyle/>
                    <a:p>
                      <a:r>
                        <a:rPr lang="en-IN" dirty="0"/>
                        <a:t>Data Collection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956605"/>
                  </a:ext>
                </a:extLst>
              </a:tr>
              <a:tr h="410599">
                <a:tc>
                  <a:txBody>
                    <a:bodyPr/>
                    <a:lstStyle/>
                    <a:p>
                      <a:r>
                        <a:rPr lang="en-IN" dirty="0"/>
                        <a:t>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45554"/>
                  </a:ext>
                </a:extLst>
              </a:tr>
              <a:tr h="410599">
                <a:tc>
                  <a:txBody>
                    <a:bodyPr/>
                    <a:lstStyle/>
                    <a:p>
                      <a:r>
                        <a:rPr lang="en-IN" dirty="0"/>
                        <a:t>EDA &amp;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434519"/>
                  </a:ext>
                </a:extLst>
              </a:tr>
              <a:tr h="410599">
                <a:tc>
                  <a:txBody>
                    <a:bodyPr/>
                    <a:lstStyle/>
                    <a:p>
                      <a:r>
                        <a:rPr lang="en-IN" dirty="0"/>
                        <a:t>ML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987945"/>
                  </a:ext>
                </a:extLst>
              </a:tr>
              <a:tr h="410599">
                <a:tc>
                  <a:txBody>
                    <a:bodyPr/>
                    <a:lstStyle/>
                    <a:p>
                      <a:r>
                        <a:rPr lang="en-IN" dirty="0"/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55341"/>
                  </a:ext>
                </a:extLst>
              </a:tr>
              <a:tr h="410599">
                <a:tc>
                  <a:txBody>
                    <a:bodyPr/>
                    <a:lstStyle/>
                    <a:p>
                      <a:r>
                        <a:rPr lang="en-IN" dirty="0"/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44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139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1010</Words>
  <Application>Microsoft Office PowerPoint</Application>
  <PresentationFormat>Widescreen</PresentationFormat>
  <Paragraphs>161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gldhasini@gmail.com</cp:lastModifiedBy>
  <cp:revision>34</cp:revision>
  <dcterms:created xsi:type="dcterms:W3CDTF">2026-08-08T06:33:56Z</dcterms:created>
  <dcterms:modified xsi:type="dcterms:W3CDTF">2026-09-11T03:44:28Z</dcterms:modified>
</cp:coreProperties>
</file>